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pic>
        <p:nvPicPr>
          <p:cNvPr id="3" name="Image 0" descr="C:\Projects\kaznadzei\files\Logo-1024x3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2651760" cy="7955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7830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Схема работы Telegram Supergroup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731520" y="242316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43746"/>
                </a:solidFill>
              </a:rPr>
              <a:t>Для проекта Kaznadzei: заказчик общается с ботом, сотрудники работают в одной supergroup с темами по заказам, бот выступает мостом между двумя контурами.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635240" y="1783080"/>
            <a:ext cx="374904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A9C7E6"/>
            </a:solidFill>
            <a:prstDash val="solid"/>
          </a:ln>
          <a:effectLst>
            <a:outerShdw sx="100000" sy="100000" kx="0" ky="0" algn="bl" rotWithShape="0" blurRad="12700" dist="50800" dir="2700000">
              <a:srgbClr val="BCCFE3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909560" y="2011680"/>
            <a:ext cx="1389888" cy="256032"/>
          </a:xfrm>
          <a:prstGeom prst="roundRect">
            <a:avLst>
              <a:gd name="adj" fmla="val 28571"/>
            </a:avLst>
          </a:prstGeom>
          <a:solidFill>
            <a:srgbClr val="FFF5DE"/>
          </a:solidFill>
          <a:ln w="12700">
            <a:solidFill>
              <a:srgbClr val="FFF5D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46136" y="2039112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56C4B"/>
                </a:solidFill>
              </a:rPr>
              <a:t>Ключевая идея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818120" y="2423160"/>
            <a:ext cx="3200400" cy="1965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243746"/>
                </a:solidFill>
              </a:rPr>
              <a:t>Один Telegram-бот для заказчиков и сотрудников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243746"/>
                </a:solidFill>
              </a:rPr>
              <a:t>Одна внутренняя supergroup "Фабрика Казнадзей"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243746"/>
                </a:solidFill>
              </a:rPr>
              <a:t>Одна тема внутри группы = один заказ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243746"/>
                </a:solidFill>
              </a:rPr>
              <a:t>Бот пересылает клиентские сообщения в нужную тему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243746"/>
                </a:solidFill>
              </a:rPr>
              <a:t>Ответ сотрудника из темы уходит заказчику в личный чат с ботом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31520" y="3886200"/>
            <a:ext cx="10652760" cy="1508760"/>
          </a:xfrm>
          <a:prstGeom prst="roundRect">
            <a:avLst>
              <a:gd name="adj" fmla="val 4848"/>
            </a:avLst>
          </a:prstGeom>
          <a:solidFill>
            <a:srgbClr val="DDEEFE"/>
          </a:solidFill>
          <a:ln w="12700">
            <a:solidFill>
              <a:srgbClr val="DDEEFE"/>
            </a:solidFill>
            <a:prstDash val="solid"/>
          </a:ln>
          <a:effectLst>
            <a:outerShdw sx="100000" sy="100000" kx="0" ky="0" algn="bl" rotWithShape="0" blurRad="12700" dist="50800" dir="2700000">
              <a:srgbClr val="BCCFE3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60120" y="41148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</a:rPr>
              <a:t>Почему эта схема подходит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60120" y="446227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Заказчик не видит чужие заказы. </a:t>
            </a:r>
            <a:pPr indent="0" marL="0">
              <a:buNone/>
            </a:pPr>
            <a:r>
              <a:rPr lang="en-US" sz="1150" b="1" dirty="0">
                <a:solidFill>
                  <a:srgbClr val="243746"/>
                </a:solidFill>
              </a:rPr>
              <a:t>Сотрудники получают единое рабочее пространство. </a:t>
            </a:r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История сообщений, файлов и статусов собирается по каждому заказу внутри своей темы.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48640" y="63550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E7387"/>
                </a:solidFill>
              </a:rPr>
              <a:t>Проектная схема без кода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Общая архитектура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387"/>
                </a:solidFill>
              </a:rPr>
              <a:t>Как связаны заказчик, бот и внутренняя supergroup сотрудников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0972800" cy="0"/>
          </a:xfrm>
          <a:prstGeom prst="line">
            <a:avLst/>
          </a:prstGeom>
          <a:noFill/>
          <a:ln w="12700">
            <a:solidFill>
              <a:srgbClr val="A9C7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54480"/>
            <a:ext cx="2606040" cy="41605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A9C7E6"/>
            </a:solidFill>
            <a:prstDash val="solid"/>
          </a:ln>
          <a:effectLst>
            <a:outerShdw sx="100000" sy="100000" kx="0" ky="0" algn="bl" rotWithShape="0" blurRad="12700" dist="50800" dir="2700000">
              <a:srgbClr val="BCCFE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783080"/>
            <a:ext cx="1508760" cy="256032"/>
          </a:xfrm>
          <a:prstGeom prst="roundRect">
            <a:avLst>
              <a:gd name="adj" fmla="val 28571"/>
            </a:avLst>
          </a:prstGeom>
          <a:solidFill>
            <a:srgbClr val="E8F6EF"/>
          </a:solidFill>
          <a:ln w="12700">
            <a:solidFill>
              <a:srgbClr val="E8F6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1810512"/>
            <a:ext cx="1435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8F62"/>
                </a:solidFill>
              </a:rPr>
              <a:t>Внешний контур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</a:rPr>
              <a:t>Заказчик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96112" y="2560320"/>
            <a:ext cx="2103120" cy="1874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52400" indent="-152400">
              <a:buSzPct val="100000"/>
              <a:buChar char="•"/>
            </a:pPr>
            <a:r>
              <a:rPr lang="en-US" sz="1040" dirty="0">
                <a:solidFill>
                  <a:srgbClr val="243746"/>
                </a:solidFill>
              </a:rPr>
              <a:t>Сидит только в личке с ботом</a:t>
            </a:r>
            <a:endParaRPr lang="en-US" sz="1040" dirty="0"/>
          </a:p>
          <a:p>
            <a:pPr marL="152400" indent="-152400">
              <a:buSzPct val="100000"/>
              <a:buChar char="•"/>
            </a:pPr>
            <a:r>
              <a:rPr lang="en-US" sz="1040" dirty="0">
                <a:solidFill>
                  <a:srgbClr val="243746"/>
                </a:solidFill>
              </a:rPr>
              <a:t>Получает уведомления по статусам и этапам</a:t>
            </a:r>
            <a:endParaRPr lang="en-US" sz="1040" dirty="0"/>
          </a:p>
          <a:p>
            <a:pPr marL="152400" indent="-152400">
              <a:buSzPct val="100000"/>
              <a:buChar char="•"/>
            </a:pPr>
            <a:r>
              <a:rPr lang="en-US" sz="1040" dirty="0">
                <a:solidFill>
                  <a:srgbClr val="243746"/>
                </a:solidFill>
              </a:rPr>
              <a:t>Открывает заказ, изделия и файлы</a:t>
            </a:r>
            <a:endParaRPr lang="en-US" sz="1040" dirty="0"/>
          </a:p>
          <a:p>
            <a:pPr marL="152400" indent="-152400">
              <a:buSzPct val="100000"/>
              <a:buChar char="•"/>
            </a:pPr>
            <a:r>
              <a:rPr lang="en-US" sz="1040" dirty="0">
                <a:solidFill>
                  <a:srgbClr val="243746"/>
                </a:solidFill>
              </a:rPr>
              <a:t>Пишет вопросы, комментарии и при необходимости отправляет вложения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914400" y="466344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FFF5DE"/>
          </a:solidFill>
          <a:ln w="12700">
            <a:solidFill>
              <a:srgbClr val="FFF5DE"/>
            </a:solidFill>
            <a:prstDash val="solid"/>
          </a:ln>
          <a:effectLst>
            <a:outerShdw sx="100000" sy="100000" kx="0" ky="0" algn="bl" rotWithShape="0" blurRad="12700" dist="50800" dir="2700000">
              <a:srgbClr val="BCCFE3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51560" y="48280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6C4B"/>
                </a:solidFill>
              </a:rPr>
              <a:t>Личка с ботом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C56C4B"/>
                </a:solidFill>
              </a:rPr>
              <a:t>= только его заказы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0" y="1417320"/>
            <a:ext cx="3749040" cy="44348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D9A441"/>
            </a:solidFill>
            <a:prstDash val="solid"/>
          </a:ln>
          <a:effectLst>
            <a:outerShdw sx="100000" sy="100000" kx="0" ky="0" algn="bl" rotWithShape="0" blurRad="12700" dist="50800" dir="2700000">
              <a:srgbClr val="BCCFE3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0" y="1664208"/>
            <a:ext cx="1481328" cy="256032"/>
          </a:xfrm>
          <a:prstGeom prst="roundRect">
            <a:avLst>
              <a:gd name="adj" fmla="val 28571"/>
            </a:avLst>
          </a:prstGeom>
          <a:solidFill>
            <a:srgbClr val="FFF5DE"/>
          </a:solidFill>
          <a:ln w="12700">
            <a:solidFill>
              <a:srgbClr val="FFF5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51376" y="1691640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56C4B"/>
                </a:solidFill>
              </a:rPr>
              <a:t>Центральный мост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33088" y="2011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4F"/>
                </a:solidFill>
              </a:rPr>
              <a:t>Telegram-бот + backend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114800" y="2423160"/>
            <a:ext cx="3063240" cy="1965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52400" indent="-152400">
              <a:buSzPct val="100000"/>
              <a:buChar char="•"/>
            </a:pPr>
            <a:r>
              <a:rPr lang="en-US" sz="1040" dirty="0">
                <a:solidFill>
                  <a:srgbClr val="243746"/>
                </a:solidFill>
              </a:rPr>
              <a:t>Знает, к какому заказу относится клиент</a:t>
            </a:r>
            <a:endParaRPr lang="en-US" sz="1040" dirty="0"/>
          </a:p>
          <a:p>
            <a:pPr marL="152400" indent="-152400">
              <a:buSzPct val="100000"/>
              <a:buChar char="•"/>
            </a:pPr>
            <a:r>
              <a:rPr lang="en-US" sz="1040" dirty="0">
                <a:solidFill>
                  <a:srgbClr val="243746"/>
                </a:solidFill>
              </a:rPr>
              <a:t>Хранит связь: orderId -&gt; internalTopicId</a:t>
            </a:r>
            <a:endParaRPr lang="en-US" sz="1040" dirty="0"/>
          </a:p>
          <a:p>
            <a:pPr marL="152400" indent="-152400">
              <a:buSzPct val="100000"/>
              <a:buChar char="•"/>
            </a:pPr>
            <a:r>
              <a:rPr lang="en-US" sz="1040" dirty="0">
                <a:solidFill>
                  <a:srgbClr val="243746"/>
                </a:solidFill>
              </a:rPr>
              <a:t>Пересылает клиентские сообщения в тему заказа</a:t>
            </a:r>
            <a:endParaRPr lang="en-US" sz="1040" dirty="0"/>
          </a:p>
          <a:p>
            <a:pPr marL="152400" indent="-152400">
              <a:buSzPct val="100000"/>
              <a:buChar char="•"/>
            </a:pPr>
            <a:r>
              <a:rPr lang="en-US" sz="1040" dirty="0">
                <a:solidFill>
                  <a:srgbClr val="243746"/>
                </a:solidFill>
              </a:rPr>
              <a:t>Отправляет ответы сотрудников обратно заказчику</a:t>
            </a:r>
            <a:endParaRPr lang="en-US" sz="1040" dirty="0"/>
          </a:p>
          <a:p>
            <a:pPr marL="152400" indent="-152400">
              <a:buSzPct val="100000"/>
              <a:buChar char="•"/>
            </a:pPr>
            <a:r>
              <a:rPr lang="en-US" sz="1040" dirty="0">
                <a:solidFill>
                  <a:srgbClr val="243746"/>
                </a:solidFill>
              </a:rPr>
              <a:t>Публикует изменения статусов, файлов и сроков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4160520" y="4681728"/>
            <a:ext cx="3017520" cy="841248"/>
          </a:xfrm>
          <a:prstGeom prst="roundRect">
            <a:avLst>
              <a:gd name="adj" fmla="val 8696"/>
            </a:avLst>
          </a:prstGeom>
          <a:solidFill>
            <a:srgbClr val="DDEEFE"/>
          </a:solidFill>
          <a:ln w="12700">
            <a:solidFill>
              <a:srgbClr val="DDEEFE"/>
            </a:solidFill>
            <a:prstDash val="solid"/>
          </a:ln>
          <a:effectLst>
            <a:outerShdw sx="100000" sy="100000" kx="0" ky="0" algn="bl" rotWithShape="0" blurRad="12700" dist="50800" dir="2700000">
              <a:srgbClr val="BCCFE3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315968" y="4846320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CAD"/>
                </a:solidFill>
              </a:rPr>
              <a:t>Ключевая привязка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F6CAD"/>
                </a:solidFill>
              </a:rPr>
              <a:t>orderId + topicId + customerChatId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38160" y="1554480"/>
            <a:ext cx="3383280" cy="41605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A9C7E6"/>
            </a:solidFill>
            <a:prstDash val="solid"/>
          </a:ln>
          <a:effectLst>
            <a:outerShdw sx="100000" sy="100000" kx="0" ky="0" algn="bl" rotWithShape="0" blurRad="12700" dist="50800" dir="2700000">
              <a:srgbClr val="BCCFE3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75904" y="1783080"/>
            <a:ext cx="1664208" cy="256032"/>
          </a:xfrm>
          <a:prstGeom prst="roundRect">
            <a:avLst>
              <a:gd name="adj" fmla="val 28571"/>
            </a:avLst>
          </a:prstGeom>
          <a:solidFill>
            <a:srgbClr val="DDEEFE"/>
          </a:solidFill>
          <a:ln w="12700">
            <a:solidFill>
              <a:srgbClr val="DDEE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1810512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CAD"/>
                </a:solidFill>
              </a:rPr>
              <a:t>Внутренний контур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412480" y="20848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6324F"/>
                </a:solidFill>
              </a:rPr>
              <a:t>Supergroup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6324F"/>
                </a:solidFill>
              </a:rPr>
              <a:t>"Фабрика Казнадзей"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366760" y="2788920"/>
            <a:ext cx="269748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52400" indent="-152400">
              <a:buSzPct val="100000"/>
              <a:buChar char="•"/>
            </a:pPr>
            <a:r>
              <a:rPr lang="en-US" sz="1040" dirty="0">
                <a:solidFill>
                  <a:srgbClr val="243746"/>
                </a:solidFill>
              </a:rPr>
              <a:t>Видна только сотрудникам</a:t>
            </a:r>
            <a:endParaRPr lang="en-US" sz="1040" dirty="0"/>
          </a:p>
          <a:p>
            <a:pPr marL="152400" indent="-152400">
              <a:buSzPct val="100000"/>
              <a:buChar char="•"/>
            </a:pPr>
            <a:r>
              <a:rPr lang="en-US" sz="1040" dirty="0">
                <a:solidFill>
                  <a:srgbClr val="243746"/>
                </a:solidFill>
              </a:rPr>
              <a:t>Каждая тема = отдельный заказ</a:t>
            </a:r>
            <a:endParaRPr lang="en-US" sz="1040" dirty="0"/>
          </a:p>
          <a:p>
            <a:pPr marL="152400" indent="-152400">
              <a:buSzPct val="100000"/>
              <a:buChar char="•"/>
            </a:pPr>
            <a:r>
              <a:rPr lang="en-US" sz="1040" dirty="0">
                <a:solidFill>
                  <a:srgbClr val="243746"/>
                </a:solidFill>
              </a:rPr>
              <a:t>Внутри темы живут статусы, сообщения клиента, внутренние обсуждения и файлы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8394192" y="4407408"/>
            <a:ext cx="2798064" cy="987552"/>
          </a:xfrm>
          <a:prstGeom prst="roundRect">
            <a:avLst>
              <a:gd name="adj" fmla="val 7407"/>
            </a:avLst>
          </a:prstGeom>
          <a:solidFill>
            <a:srgbClr val="F7FAFD"/>
          </a:solidFill>
          <a:ln w="12700">
            <a:solidFill>
              <a:srgbClr val="A9C7E6"/>
            </a:solidFill>
            <a:prstDash val="solid"/>
          </a:ln>
          <a:effectLst>
            <a:outerShdw sx="100000" sy="100000" kx="0" ky="0" algn="bl" rotWithShape="0" blurRad="12700" dist="50800" dir="2700000">
              <a:srgbClr val="BCCFE3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595360" y="459943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746"/>
                </a:solidFill>
              </a:rPr>
              <a:t>Темы: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746"/>
                </a:solidFill>
              </a:rPr>
              <a:t>• Заказ 124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746"/>
                </a:solidFill>
              </a:rPr>
              <a:t>• Заказ 17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746"/>
                </a:solidFill>
              </a:rPr>
              <a:t>• Заказ 205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154680" y="3154680"/>
            <a:ext cx="594360" cy="274320"/>
          </a:xfrm>
          <a:prstGeom prst="chevron">
            <a:avLst/>
          </a:prstGeom>
          <a:solidFill>
            <a:srgbClr val="2F6CAD">
              <a:alpha val="92000"/>
            </a:srgbClr>
          </a:solidFill>
          <a:ln w="12700">
            <a:solidFill>
              <a:srgbClr val="2F6CA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27832" y="3191256"/>
            <a:ext cx="448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вопрос / файл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589520" y="2542032"/>
            <a:ext cx="594360" cy="274320"/>
          </a:xfrm>
          <a:prstGeom prst="chevron">
            <a:avLst/>
          </a:prstGeom>
          <a:solidFill>
            <a:srgbClr val="2F8F62">
              <a:alpha val="92000"/>
            </a:srgbClr>
          </a:solidFill>
          <a:ln w="12700">
            <a:solidFill>
              <a:srgbClr val="2F8F6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62672" y="2578608"/>
            <a:ext cx="448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в тему заказа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589520" y="3767328"/>
            <a:ext cx="594360" cy="274320"/>
          </a:xfrm>
          <a:prstGeom prst="chevron">
            <a:avLst/>
          </a:prstGeom>
          <a:solidFill>
            <a:srgbClr val="D9A441">
              <a:alpha val="92000"/>
            </a:srgbClr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62672" y="3803904"/>
            <a:ext cx="448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системные события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749040" y="4343400"/>
            <a:ext cx="-594360" cy="274320"/>
          </a:xfrm>
          <a:prstGeom prst="chevron">
            <a:avLst/>
          </a:prstGeom>
          <a:solidFill>
            <a:srgbClr val="C56C4B">
              <a:alpha val="92000"/>
            </a:srgbClr>
          </a:solidFill>
          <a:ln w="12700">
            <a:solidFill>
              <a:srgbClr val="C56C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22192" y="437997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ответ клиенту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48640" y="63550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E7387"/>
                </a:solidFill>
              </a:rPr>
              <a:t>Проектная схема без кода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Как ходят сообщения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387"/>
                </a:solidFill>
              </a:rPr>
              <a:t>Три основных сценария: уведомления, вопрос клиента, ответ сотрудника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0972800" cy="0"/>
          </a:xfrm>
          <a:prstGeom prst="line">
            <a:avLst/>
          </a:prstGeom>
          <a:noFill/>
          <a:ln w="12700">
            <a:solidFill>
              <a:srgbClr val="A9C7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08760"/>
            <a:ext cx="1086307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2F8F62"/>
            </a:solidFill>
            <a:prstDash val="solid"/>
          </a:ln>
          <a:effectLst>
            <a:outerShdw sx="100000" sy="100000" kx="0" ky="0" algn="bl" rotWithShape="0" blurRad="12700" dist="50800" dir="2700000">
              <a:srgbClr val="BCCFE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655064"/>
            <a:ext cx="2240280" cy="256032"/>
          </a:xfrm>
          <a:prstGeom prst="roundRect">
            <a:avLst>
              <a:gd name="adj" fmla="val 28571"/>
            </a:avLst>
          </a:prstGeom>
          <a:solidFill>
            <a:srgbClr val="E8F6EF"/>
          </a:solidFill>
          <a:ln w="12700">
            <a:solidFill>
              <a:srgbClr val="E8F6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682496"/>
            <a:ext cx="2167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43746"/>
                </a:solidFill>
              </a:rPr>
              <a:t>A. Автоуведомление по заказу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337560" y="1673352"/>
            <a:ext cx="1682496" cy="749808"/>
          </a:xfrm>
          <a:prstGeom prst="roundRect">
            <a:avLst>
              <a:gd name="adj" fmla="val 9756"/>
            </a:avLst>
          </a:prstGeom>
          <a:solidFill>
            <a:srgbClr val="F7FAFD"/>
          </a:solidFill>
          <a:ln w="12700">
            <a:solidFill>
              <a:srgbClr val="A9C7E6"/>
            </a:solidFill>
            <a:prstDash val="solid"/>
          </a:ln>
          <a:effectLst>
            <a:outerShdw sx="100000" sy="100000" kx="0" ky="0" algn="bl" rotWithShape="0" blurRad="12700" dist="50800" dir="2700000">
              <a:srgbClr val="BCCFE3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10712" y="1764792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324F"/>
                </a:solidFill>
              </a:rPr>
              <a:t>Система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29000" y="1947672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243746"/>
                </a:solidFill>
              </a:rPr>
              <a:t>В таблице меняется этап или статус изделия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5056632" y="1947672"/>
            <a:ext cx="155448" cy="182880"/>
          </a:xfrm>
          <a:prstGeom prst="chevron">
            <a:avLst/>
          </a:prstGeom>
          <a:solidFill>
            <a:srgbClr val="2F8F62">
              <a:alpha val="92000"/>
            </a:srgbClr>
          </a:solidFill>
          <a:ln w="12700">
            <a:solidFill>
              <a:srgbClr val="2F8F6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57800" y="1673352"/>
            <a:ext cx="1682496" cy="749808"/>
          </a:xfrm>
          <a:prstGeom prst="roundRect">
            <a:avLst>
              <a:gd name="adj" fmla="val 9756"/>
            </a:avLst>
          </a:prstGeom>
          <a:solidFill>
            <a:srgbClr val="F7FAFD"/>
          </a:solidFill>
          <a:ln w="12700">
            <a:solidFill>
              <a:srgbClr val="A9C7E6"/>
            </a:solidFill>
            <a:prstDash val="solid"/>
          </a:ln>
          <a:effectLst>
            <a:outerShdw sx="100000" sy="100000" kx="0" ky="0" algn="bl" rotWithShape="0" blurRad="12700" dist="50800" dir="2700000">
              <a:srgbClr val="BCCFE3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30952" y="1764792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324F"/>
                </a:solidFill>
              </a:rPr>
              <a:t>Бот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349240" y="1947672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243746"/>
                </a:solidFill>
              </a:rPr>
              <a:t>Понимает, к какому заказу относится событие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6976872" y="1947672"/>
            <a:ext cx="155448" cy="182880"/>
          </a:xfrm>
          <a:prstGeom prst="chevron">
            <a:avLst/>
          </a:prstGeom>
          <a:solidFill>
            <a:srgbClr val="2F8F62">
              <a:alpha val="92000"/>
            </a:srgbClr>
          </a:solidFill>
          <a:ln w="12700">
            <a:solidFill>
              <a:srgbClr val="2F8F6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78040" y="1673352"/>
            <a:ext cx="1682496" cy="749808"/>
          </a:xfrm>
          <a:prstGeom prst="roundRect">
            <a:avLst>
              <a:gd name="adj" fmla="val 9756"/>
            </a:avLst>
          </a:prstGeom>
          <a:solidFill>
            <a:srgbClr val="F7FAFD"/>
          </a:solidFill>
          <a:ln w="12700">
            <a:solidFill>
              <a:srgbClr val="A9C7E6"/>
            </a:solidFill>
            <a:prstDash val="solid"/>
          </a:ln>
          <a:effectLst>
            <a:outerShdw sx="100000" sy="100000" kx="0" ky="0" algn="bl" rotWithShape="0" blurRad="12700" dist="50800" dir="2700000">
              <a:srgbClr val="BCCFE3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51192" y="1764792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324F"/>
                </a:solidFill>
              </a:rPr>
              <a:t>Личка клиента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269480" y="1947672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243746"/>
                </a:solidFill>
              </a:rPr>
              <a:t>Отправляет уведомление заказчику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8897112" y="1947672"/>
            <a:ext cx="155448" cy="182880"/>
          </a:xfrm>
          <a:prstGeom prst="chevron">
            <a:avLst/>
          </a:prstGeom>
          <a:solidFill>
            <a:srgbClr val="2F8F62">
              <a:alpha val="92000"/>
            </a:srgbClr>
          </a:solidFill>
          <a:ln w="12700">
            <a:solidFill>
              <a:srgbClr val="2F8F6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98280" y="1673352"/>
            <a:ext cx="1682496" cy="749808"/>
          </a:xfrm>
          <a:prstGeom prst="roundRect">
            <a:avLst>
              <a:gd name="adj" fmla="val 9756"/>
            </a:avLst>
          </a:prstGeom>
          <a:solidFill>
            <a:srgbClr val="F7FAFD"/>
          </a:solidFill>
          <a:ln w="12700">
            <a:solidFill>
              <a:srgbClr val="A9C7E6"/>
            </a:solidFill>
            <a:prstDash val="solid"/>
          </a:ln>
          <a:effectLst>
            <a:outerShdw sx="100000" sy="100000" kx="0" ky="0" algn="bl" rotWithShape="0" blurRad="12700" dist="50800" dir="2700000">
              <a:srgbClr val="BCCFE3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71432" y="1764792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324F"/>
                </a:solidFill>
              </a:rPr>
              <a:t>Тема заказа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189720" y="1947672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243746"/>
                </a:solidFill>
              </a:rPr>
              <a:t>Публикует то же событие в supergroup для сотрудников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658368" y="3063240"/>
            <a:ext cx="1086307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2F6CAD"/>
            </a:solidFill>
            <a:prstDash val="solid"/>
          </a:ln>
          <a:effectLst>
            <a:outerShdw sx="100000" sy="100000" kx="0" ky="0" algn="bl" rotWithShape="0" blurRad="12700" dist="50800" dir="2700000">
              <a:srgbClr val="BCCFE3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68680" y="3209544"/>
            <a:ext cx="2240280" cy="256032"/>
          </a:xfrm>
          <a:prstGeom prst="roundRect">
            <a:avLst>
              <a:gd name="adj" fmla="val 28571"/>
            </a:avLst>
          </a:prstGeom>
          <a:solidFill>
            <a:srgbClr val="DDEEFE"/>
          </a:solidFill>
          <a:ln w="12700">
            <a:solidFill>
              <a:srgbClr val="DDEE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5256" y="3236976"/>
            <a:ext cx="2167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43746"/>
                </a:solidFill>
              </a:rPr>
              <a:t>B. Сообщение от заказчика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337560" y="3227832"/>
            <a:ext cx="1682496" cy="749808"/>
          </a:xfrm>
          <a:prstGeom prst="roundRect">
            <a:avLst>
              <a:gd name="adj" fmla="val 9756"/>
            </a:avLst>
          </a:prstGeom>
          <a:solidFill>
            <a:srgbClr val="F7FAFD"/>
          </a:solidFill>
          <a:ln w="12700">
            <a:solidFill>
              <a:srgbClr val="A9C7E6"/>
            </a:solidFill>
            <a:prstDash val="solid"/>
          </a:ln>
          <a:effectLst>
            <a:outerShdw sx="100000" sy="100000" kx="0" ky="0" algn="bl" rotWithShape="0" blurRad="12700" dist="50800" dir="2700000">
              <a:srgbClr val="BCCFE3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10712" y="3319272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324F"/>
                </a:solidFill>
              </a:rPr>
              <a:t>Заказчик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429000" y="3502152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243746"/>
                </a:solidFill>
              </a:rPr>
              <a:t>Пишет вопрос в личку боту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056632" y="3502152"/>
            <a:ext cx="155448" cy="182880"/>
          </a:xfrm>
          <a:prstGeom prst="chevron">
            <a:avLst/>
          </a:prstGeom>
          <a:solidFill>
            <a:srgbClr val="2F6CAD">
              <a:alpha val="92000"/>
            </a:srgbClr>
          </a:solidFill>
          <a:ln w="12700">
            <a:solidFill>
              <a:srgbClr val="2F6CA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257800" y="3227832"/>
            <a:ext cx="1682496" cy="749808"/>
          </a:xfrm>
          <a:prstGeom prst="roundRect">
            <a:avLst>
              <a:gd name="adj" fmla="val 9756"/>
            </a:avLst>
          </a:prstGeom>
          <a:solidFill>
            <a:srgbClr val="F7FAFD"/>
          </a:solidFill>
          <a:ln w="12700">
            <a:solidFill>
              <a:srgbClr val="A9C7E6"/>
            </a:solidFill>
            <a:prstDash val="solid"/>
          </a:ln>
          <a:effectLst>
            <a:outerShdw sx="100000" sy="100000" kx="0" ky="0" algn="bl" rotWithShape="0" blurRad="12700" dist="50800" dir="2700000">
              <a:srgbClr val="BCCFE3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330952" y="3319272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324F"/>
                </a:solidFill>
              </a:rPr>
              <a:t>Бот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349240" y="3502152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243746"/>
                </a:solidFill>
              </a:rPr>
              <a:t>Определяет orderId и находит topicId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6976872" y="3502152"/>
            <a:ext cx="155448" cy="182880"/>
          </a:xfrm>
          <a:prstGeom prst="chevron">
            <a:avLst/>
          </a:prstGeom>
          <a:solidFill>
            <a:srgbClr val="2F6CAD">
              <a:alpha val="92000"/>
            </a:srgbClr>
          </a:solidFill>
          <a:ln w="12700">
            <a:solidFill>
              <a:srgbClr val="2F6CA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78040" y="3227832"/>
            <a:ext cx="1682496" cy="749808"/>
          </a:xfrm>
          <a:prstGeom prst="roundRect">
            <a:avLst>
              <a:gd name="adj" fmla="val 9756"/>
            </a:avLst>
          </a:prstGeom>
          <a:solidFill>
            <a:srgbClr val="F7FAFD"/>
          </a:solidFill>
          <a:ln w="12700">
            <a:solidFill>
              <a:srgbClr val="A9C7E6"/>
            </a:solidFill>
            <a:prstDash val="solid"/>
          </a:ln>
          <a:effectLst>
            <a:outerShdw sx="100000" sy="100000" kx="0" ky="0" algn="bl" rotWithShape="0" blurRad="12700" dist="50800" dir="2700000">
              <a:srgbClr val="BCCFE3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251192" y="3319272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324F"/>
                </a:solidFill>
              </a:rPr>
              <a:t>Тема заказа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269480" y="3502152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243746"/>
                </a:solidFill>
              </a:rPr>
              <a:t>Пересылает сообщение в нужную тему</a:t>
            </a:r>
            <a:endParaRPr lang="en-US" sz="860" dirty="0"/>
          </a:p>
        </p:txBody>
      </p:sp>
      <p:sp>
        <p:nvSpPr>
          <p:cNvPr id="37" name="Shape 35"/>
          <p:cNvSpPr/>
          <p:nvPr/>
        </p:nvSpPr>
        <p:spPr>
          <a:xfrm>
            <a:off x="8897112" y="3502152"/>
            <a:ext cx="155448" cy="182880"/>
          </a:xfrm>
          <a:prstGeom prst="chevron">
            <a:avLst/>
          </a:prstGeom>
          <a:solidFill>
            <a:srgbClr val="2F6CAD">
              <a:alpha val="92000"/>
            </a:srgbClr>
          </a:solidFill>
          <a:ln w="12700">
            <a:solidFill>
              <a:srgbClr val="2F6CA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098280" y="3227832"/>
            <a:ext cx="1682496" cy="749808"/>
          </a:xfrm>
          <a:prstGeom prst="roundRect">
            <a:avLst>
              <a:gd name="adj" fmla="val 9756"/>
            </a:avLst>
          </a:prstGeom>
          <a:solidFill>
            <a:srgbClr val="F7FAFD"/>
          </a:solidFill>
          <a:ln w="12700">
            <a:solidFill>
              <a:srgbClr val="A9C7E6"/>
            </a:solidFill>
            <a:prstDash val="solid"/>
          </a:ln>
          <a:effectLst>
            <a:outerShdw sx="100000" sy="100000" kx="0" ky="0" algn="bl" rotWithShape="0" blurRad="12700" dist="50800" dir="2700000">
              <a:srgbClr val="BCCFE3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9171432" y="3319272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324F"/>
                </a:solidFill>
              </a:rPr>
              <a:t>Сотрудники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9189720" y="3502152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243746"/>
                </a:solidFill>
              </a:rPr>
              <a:t>Видят вопрос и обсуждают его внутри темы</a:t>
            </a:r>
            <a:endParaRPr lang="en-US" sz="860" dirty="0"/>
          </a:p>
        </p:txBody>
      </p:sp>
      <p:sp>
        <p:nvSpPr>
          <p:cNvPr id="41" name="Shape 39"/>
          <p:cNvSpPr/>
          <p:nvPr/>
        </p:nvSpPr>
        <p:spPr>
          <a:xfrm>
            <a:off x="658368" y="4617720"/>
            <a:ext cx="1086307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A441"/>
            </a:solidFill>
            <a:prstDash val="solid"/>
          </a:ln>
          <a:effectLst>
            <a:outerShdw sx="100000" sy="100000" kx="0" ky="0" algn="bl" rotWithShape="0" blurRad="12700" dist="50800" dir="2700000">
              <a:srgbClr val="BCCFE3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68680" y="4764024"/>
            <a:ext cx="2240280" cy="256032"/>
          </a:xfrm>
          <a:prstGeom prst="roundRect">
            <a:avLst>
              <a:gd name="adj" fmla="val 28571"/>
            </a:avLst>
          </a:prstGeom>
          <a:solidFill>
            <a:srgbClr val="FFF5DE"/>
          </a:solidFill>
          <a:ln w="12700">
            <a:solidFill>
              <a:srgbClr val="FFF5D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05256" y="4791456"/>
            <a:ext cx="2167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43746"/>
                </a:solidFill>
              </a:rPr>
              <a:t>C. Ответ сотрудника клиенту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337560" y="4782312"/>
            <a:ext cx="1682496" cy="749808"/>
          </a:xfrm>
          <a:prstGeom prst="roundRect">
            <a:avLst>
              <a:gd name="adj" fmla="val 9756"/>
            </a:avLst>
          </a:prstGeom>
          <a:solidFill>
            <a:srgbClr val="F7FAFD"/>
          </a:solidFill>
          <a:ln w="12700">
            <a:solidFill>
              <a:srgbClr val="A9C7E6"/>
            </a:solidFill>
            <a:prstDash val="solid"/>
          </a:ln>
          <a:effectLst>
            <a:outerShdw sx="100000" sy="100000" kx="0" ky="0" algn="bl" rotWithShape="0" blurRad="12700" dist="50800" dir="2700000">
              <a:srgbClr val="BCCFE3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3410712" y="4873752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324F"/>
                </a:solidFill>
              </a:rPr>
              <a:t>Сотрудник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429000" y="5056632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243746"/>
                </a:solidFill>
              </a:rPr>
              <a:t>Отвечает reply на клиентское сообщение в теме</a:t>
            </a:r>
            <a:endParaRPr lang="en-US" sz="860" dirty="0"/>
          </a:p>
        </p:txBody>
      </p:sp>
      <p:sp>
        <p:nvSpPr>
          <p:cNvPr id="47" name="Shape 45"/>
          <p:cNvSpPr/>
          <p:nvPr/>
        </p:nvSpPr>
        <p:spPr>
          <a:xfrm>
            <a:off x="5056632" y="5056632"/>
            <a:ext cx="155448" cy="182880"/>
          </a:xfrm>
          <a:prstGeom prst="chevron">
            <a:avLst/>
          </a:prstGeom>
          <a:solidFill>
            <a:srgbClr val="D9A441">
              <a:alpha val="92000"/>
            </a:srgbClr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257800" y="4782312"/>
            <a:ext cx="1682496" cy="749808"/>
          </a:xfrm>
          <a:prstGeom prst="roundRect">
            <a:avLst>
              <a:gd name="adj" fmla="val 9756"/>
            </a:avLst>
          </a:prstGeom>
          <a:solidFill>
            <a:srgbClr val="F7FAFD"/>
          </a:solidFill>
          <a:ln w="12700">
            <a:solidFill>
              <a:srgbClr val="A9C7E6"/>
            </a:solidFill>
            <a:prstDash val="solid"/>
          </a:ln>
          <a:effectLst>
            <a:outerShdw sx="100000" sy="100000" kx="0" ky="0" algn="bl" rotWithShape="0" blurRad="12700" dist="50800" dir="2700000">
              <a:srgbClr val="BCCFE3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5330952" y="4873752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324F"/>
                </a:solidFill>
              </a:rPr>
              <a:t>Бот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349240" y="5056632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243746"/>
                </a:solidFill>
              </a:rPr>
              <a:t>Считывает reply и понимает, кому отправить ответ</a:t>
            </a:r>
            <a:endParaRPr lang="en-US" sz="860" dirty="0"/>
          </a:p>
        </p:txBody>
      </p:sp>
      <p:sp>
        <p:nvSpPr>
          <p:cNvPr id="51" name="Shape 49"/>
          <p:cNvSpPr/>
          <p:nvPr/>
        </p:nvSpPr>
        <p:spPr>
          <a:xfrm>
            <a:off x="6976872" y="5056632"/>
            <a:ext cx="155448" cy="182880"/>
          </a:xfrm>
          <a:prstGeom prst="chevron">
            <a:avLst/>
          </a:prstGeom>
          <a:solidFill>
            <a:srgbClr val="D9A441">
              <a:alpha val="92000"/>
            </a:srgbClr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178040" y="4782312"/>
            <a:ext cx="1682496" cy="749808"/>
          </a:xfrm>
          <a:prstGeom prst="roundRect">
            <a:avLst>
              <a:gd name="adj" fmla="val 9756"/>
            </a:avLst>
          </a:prstGeom>
          <a:solidFill>
            <a:srgbClr val="F7FAFD"/>
          </a:solidFill>
          <a:ln w="12700">
            <a:solidFill>
              <a:srgbClr val="A9C7E6"/>
            </a:solidFill>
            <a:prstDash val="solid"/>
          </a:ln>
          <a:effectLst>
            <a:outerShdw sx="100000" sy="100000" kx="0" ky="0" algn="bl" rotWithShape="0" blurRad="12700" dist="50800" dir="2700000">
              <a:srgbClr val="BCCFE3">
                <a:alpha val="1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7251192" y="4873752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324F"/>
                </a:solidFill>
              </a:rPr>
              <a:t>Личка клиента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269480" y="5056632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243746"/>
                </a:solidFill>
              </a:rPr>
              <a:t>Доставляет сообщение обратно заказчику</a:t>
            </a:r>
            <a:endParaRPr lang="en-US" sz="860" dirty="0"/>
          </a:p>
        </p:txBody>
      </p:sp>
      <p:sp>
        <p:nvSpPr>
          <p:cNvPr id="55" name="Shape 53"/>
          <p:cNvSpPr/>
          <p:nvPr/>
        </p:nvSpPr>
        <p:spPr>
          <a:xfrm>
            <a:off x="8897112" y="5056632"/>
            <a:ext cx="155448" cy="182880"/>
          </a:xfrm>
          <a:prstGeom prst="chevron">
            <a:avLst/>
          </a:prstGeom>
          <a:solidFill>
            <a:srgbClr val="D9A441">
              <a:alpha val="92000"/>
            </a:srgbClr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098280" y="4782312"/>
            <a:ext cx="1682496" cy="749808"/>
          </a:xfrm>
          <a:prstGeom prst="roundRect">
            <a:avLst>
              <a:gd name="adj" fmla="val 9756"/>
            </a:avLst>
          </a:prstGeom>
          <a:solidFill>
            <a:srgbClr val="F7FAFD"/>
          </a:solidFill>
          <a:ln w="12700">
            <a:solidFill>
              <a:srgbClr val="A9C7E6"/>
            </a:solidFill>
            <a:prstDash val="solid"/>
          </a:ln>
          <a:effectLst>
            <a:outerShdw sx="100000" sy="100000" kx="0" ky="0" algn="bl" rotWithShape="0" blurRad="12700" dist="50800" dir="2700000">
              <a:srgbClr val="BCCFE3">
                <a:alpha val="12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9171432" y="4873752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324F"/>
                </a:solidFill>
              </a:rPr>
              <a:t>История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9189720" y="5056632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243746"/>
                </a:solidFill>
              </a:rPr>
              <a:t>Связка reply остаётся у заказа как единая переписка</a:t>
            </a:r>
            <a:endParaRPr lang="en-US" sz="860" dirty="0"/>
          </a:p>
        </p:txBody>
      </p:sp>
      <p:sp>
        <p:nvSpPr>
          <p:cNvPr id="59" name="Text 57"/>
          <p:cNvSpPr/>
          <p:nvPr/>
        </p:nvSpPr>
        <p:spPr>
          <a:xfrm>
            <a:off x="548640" y="63550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E7387"/>
                </a:solidFill>
              </a:rPr>
              <a:t>Проектная схема без кода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Что нужно хранить в системе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387"/>
                </a:solidFill>
              </a:rPr>
              <a:t>Минимальные сущности для связки заказа, темы и лички клиента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0972800" cy="0"/>
          </a:xfrm>
          <a:prstGeom prst="line">
            <a:avLst/>
          </a:prstGeom>
          <a:noFill/>
          <a:ln w="12700">
            <a:solidFill>
              <a:srgbClr val="A9C7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3383280" cy="448056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A9C7E6"/>
            </a:solidFill>
            <a:prstDash val="solid"/>
          </a:ln>
          <a:effectLst>
            <a:outerShdw sx="100000" sy="100000" kx="0" ky="0" algn="bl" rotWithShape="0" blurRad="12700" dist="50800" dir="2700000">
              <a:srgbClr val="BCCFE3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7373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</a:rPr>
              <a:t>Карточка заказа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2468880" cy="2971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243746"/>
                </a:solidFill>
              </a:rPr>
              <a:t>orderId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243746"/>
                </a:solidFill>
              </a:rPr>
              <a:t>orderNumber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243746"/>
                </a:solidFill>
              </a:rPr>
              <a:t>customerId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243746"/>
                </a:solidFill>
              </a:rPr>
              <a:t>customerTelegramChatId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243746"/>
                </a:solidFill>
              </a:rPr>
              <a:t>internalGroupId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243746"/>
                </a:solidFill>
              </a:rPr>
              <a:t>internalTopicId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243746"/>
                </a:solidFill>
              </a:rPr>
              <a:t>bridgeEnabled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243746"/>
                </a:solidFill>
              </a:rPr>
              <a:t>assignedEmployeeIds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243746"/>
                </a:solidFill>
              </a:rPr>
              <a:t>lastCustomerStatusMessageId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70832" y="1417320"/>
            <a:ext cx="3383280" cy="448056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A9C7E6"/>
            </a:solidFill>
            <a:prstDash val="solid"/>
          </a:ln>
          <a:effectLst>
            <a:outerShdw sx="100000" sy="100000" kx="0" ky="0" algn="bl" rotWithShape="0" blurRad="12700" dist="50800" dir="2700000">
              <a:srgbClr val="BCCFE3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99432" y="1737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</a:rPr>
              <a:t>Таблица связок сообщений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99432" y="2148840"/>
            <a:ext cx="2423160" cy="2971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243746"/>
                </a:solidFill>
              </a:rPr>
              <a:t>bridgeMessageId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243746"/>
                </a:solidFill>
              </a:rPr>
              <a:t>orderId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243746"/>
                </a:solidFill>
              </a:rPr>
              <a:t>customerChatId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243746"/>
                </a:solidFill>
              </a:rPr>
              <a:t>customerMessageId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243746"/>
                </a:solidFill>
              </a:rPr>
              <a:t>internalTopicId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243746"/>
                </a:solidFill>
              </a:rPr>
              <a:t>topicMessageId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243746"/>
                </a:solidFill>
              </a:rPr>
              <a:t>direction: inbound / outbound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243746"/>
                </a:solidFill>
              </a:rPr>
              <a:t>messageType: text / file / photo / system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243746"/>
                </a:solidFill>
              </a:rPr>
              <a:t>status: sent / delivered / failed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65008" y="1417320"/>
            <a:ext cx="3383280" cy="448056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A9C7E6"/>
            </a:solidFill>
            <a:prstDash val="solid"/>
          </a:ln>
          <a:effectLst>
            <a:outerShdw sx="100000" sy="100000" kx="0" ky="0" algn="bl" rotWithShape="0" blurRad="12700" dist="50800" dir="2700000">
              <a:srgbClr val="BCCFE3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75320" y="1737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</a:rPr>
              <a:t>Правила публикации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75320" y="2148840"/>
            <a:ext cx="2468880" cy="2971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243746"/>
                </a:solidFill>
              </a:rPr>
              <a:t>Из клиента внутрь можно пересылать автоматически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243746"/>
                </a:solidFill>
              </a:rPr>
              <a:t>Из темы клиенту отправляется только явный ответ сотрудника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243746"/>
                </a:solidFill>
              </a:rPr>
              <a:t>Внутренние заметки не уходят заказчику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243746"/>
                </a:solidFill>
              </a:rPr>
              <a:t>Файлы и фото можно маркировать как клиентские или внутренние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243746"/>
                </a:solidFill>
              </a:rPr>
              <a:t>У каждого события должна быть защита от дублей и циклов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63550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E7387"/>
                </a:solidFill>
              </a:rPr>
              <a:t>Проектная схема без кода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Рекомендуемый MVP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387"/>
                </a:solidFill>
              </a:rPr>
              <a:t>Как внедрять постепенно, не ломая текущего бота и существующие сценарии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0972800" cy="0"/>
          </a:xfrm>
          <a:prstGeom prst="line">
            <a:avLst/>
          </a:prstGeom>
          <a:noFill/>
          <a:ln w="12700">
            <a:solidFill>
              <a:srgbClr val="A9C7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45920"/>
            <a:ext cx="2103120" cy="36118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A9C7E6"/>
            </a:solidFill>
            <a:prstDash val="solid"/>
          </a:ln>
          <a:effectLst>
            <a:outerShdw sx="100000" sy="100000" kx="0" ky="0" algn="bl" rotWithShape="0" blurRad="12700" dist="50800" dir="2700000">
              <a:srgbClr val="BCCFE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33272" y="1901952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DDEEFE"/>
          </a:solidFill>
          <a:ln w="12700">
            <a:solidFill>
              <a:srgbClr val="DDEE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1929384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43746"/>
                </a:solidFill>
              </a:rPr>
              <a:t>Шаг 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05840" y="224942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</a:rPr>
              <a:t>Внутренняя supergroup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9264" y="2743200"/>
            <a:ext cx="1783080" cy="2148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52400" indent="-152400">
              <a:buSzPct val="100000"/>
              <a:buChar char="•"/>
            </a:pPr>
            <a:r>
              <a:rPr lang="en-US" sz="960" dirty="0">
                <a:solidFill>
                  <a:srgbClr val="243746"/>
                </a:solidFill>
              </a:rPr>
              <a:t>Создать группу "Фабрика Казнадзей"</a:t>
            </a:r>
            <a:endParaRPr lang="en-US" sz="960" dirty="0"/>
          </a:p>
          <a:p>
            <a:pPr marL="152400" indent="-152400">
              <a:buSzPct val="100000"/>
              <a:buChar char="•"/>
            </a:pPr>
            <a:r>
              <a:rPr lang="en-US" sz="960" dirty="0">
                <a:solidFill>
                  <a:srgbClr val="243746"/>
                </a:solidFill>
              </a:rPr>
              <a:t>Включить темы</a:t>
            </a:r>
            <a:endParaRPr lang="en-US" sz="960" dirty="0"/>
          </a:p>
          <a:p>
            <a:pPr marL="152400" indent="-152400">
              <a:buSzPct val="100000"/>
              <a:buChar char="•"/>
            </a:pPr>
            <a:r>
              <a:rPr lang="en-US" sz="960" dirty="0">
                <a:solidFill>
                  <a:srgbClr val="243746"/>
                </a:solidFill>
              </a:rPr>
              <a:t>Одна тема = один заказ</a:t>
            </a:r>
            <a:endParaRPr lang="en-US" sz="960" dirty="0"/>
          </a:p>
          <a:p>
            <a:pPr marL="152400" indent="-152400">
              <a:buSzPct val="100000"/>
              <a:buChar char="•"/>
            </a:pPr>
            <a:r>
              <a:rPr lang="en-US" sz="960" dirty="0">
                <a:solidFill>
                  <a:srgbClr val="243746"/>
                </a:solidFill>
              </a:rPr>
              <a:t>Бот публикует туда системные события по заказу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3611880" y="1645920"/>
            <a:ext cx="2103120" cy="36118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A9C7E6"/>
            </a:solidFill>
            <a:prstDash val="solid"/>
          </a:ln>
          <a:effectLst>
            <a:outerShdw sx="100000" sy="100000" kx="0" ky="0" algn="bl" rotWithShape="0" blurRad="12700" dist="50800" dir="2700000">
              <a:srgbClr val="BCCFE3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22192" y="1901952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E8F6EF"/>
          </a:solidFill>
          <a:ln w="12700">
            <a:solidFill>
              <a:srgbClr val="E8F6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58768" y="1929384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43746"/>
                </a:solidFill>
              </a:rPr>
              <a:t>Шаг 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794760" y="224942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</a:rPr>
              <a:t>Мост от клиента внутрь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58184" y="2743200"/>
            <a:ext cx="1783080" cy="2148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52400" indent="-152400">
              <a:buSzPct val="100000"/>
              <a:buChar char="•"/>
            </a:pPr>
            <a:r>
              <a:rPr lang="en-US" sz="960" dirty="0">
                <a:solidFill>
                  <a:srgbClr val="243746"/>
                </a:solidFill>
              </a:rPr>
              <a:t>Клиент пишет боту в личку</a:t>
            </a:r>
            <a:endParaRPr lang="en-US" sz="960" dirty="0"/>
          </a:p>
          <a:p>
            <a:pPr marL="152400" indent="-152400">
              <a:buSzPct val="100000"/>
              <a:buChar char="•"/>
            </a:pPr>
            <a:r>
              <a:rPr lang="en-US" sz="960" dirty="0">
                <a:solidFill>
                  <a:srgbClr val="243746"/>
                </a:solidFill>
              </a:rPr>
              <a:t>Бот определяет заказ</a:t>
            </a:r>
            <a:endParaRPr lang="en-US" sz="960" dirty="0"/>
          </a:p>
          <a:p>
            <a:pPr marL="152400" indent="-152400">
              <a:buSzPct val="100000"/>
              <a:buChar char="•"/>
            </a:pPr>
            <a:r>
              <a:rPr lang="en-US" sz="960" dirty="0">
                <a:solidFill>
                  <a:srgbClr val="243746"/>
                </a:solidFill>
              </a:rPr>
              <a:t>Сообщение пересылается в нужную тему</a:t>
            </a:r>
            <a:endParaRPr lang="en-US" sz="960" dirty="0"/>
          </a:p>
          <a:p>
            <a:pPr marL="152400" indent="-152400">
              <a:buSzPct val="100000"/>
              <a:buChar char="•"/>
            </a:pPr>
            <a:r>
              <a:rPr lang="en-US" sz="960" dirty="0">
                <a:solidFill>
                  <a:srgbClr val="243746"/>
                </a:solidFill>
              </a:rPr>
              <a:t>Сотрудники начинают работать из темы заказа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6400800" y="1645920"/>
            <a:ext cx="2103120" cy="36118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A9C7E6"/>
            </a:solidFill>
            <a:prstDash val="solid"/>
          </a:ln>
          <a:effectLst>
            <a:outerShdw sx="100000" sy="100000" kx="0" ky="0" algn="bl" rotWithShape="0" blurRad="12700" dist="50800" dir="2700000">
              <a:srgbClr val="BCCFE3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11112" y="1901952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FF5DE"/>
          </a:solidFill>
          <a:ln w="12700">
            <a:solidFill>
              <a:srgbClr val="FFF5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47688" y="1929384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43746"/>
                </a:solidFill>
              </a:rPr>
              <a:t>Шаг 3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583680" y="224942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</a:rPr>
              <a:t>Reply-ответ клиенту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47104" y="2743200"/>
            <a:ext cx="1783080" cy="2148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52400" indent="-152400">
              <a:buSzPct val="100000"/>
              <a:buChar char="•"/>
            </a:pPr>
            <a:r>
              <a:rPr lang="en-US" sz="960" dirty="0">
                <a:solidFill>
                  <a:srgbClr val="243746"/>
                </a:solidFill>
              </a:rPr>
              <a:t>Сотрудник отвечает reply на сообщение клиента</a:t>
            </a:r>
            <a:endParaRPr lang="en-US" sz="960" dirty="0"/>
          </a:p>
          <a:p>
            <a:pPr marL="152400" indent="-152400">
              <a:buSzPct val="100000"/>
              <a:buChar char="•"/>
            </a:pPr>
            <a:r>
              <a:rPr lang="en-US" sz="960" dirty="0">
                <a:solidFill>
                  <a:srgbClr val="243746"/>
                </a:solidFill>
              </a:rPr>
              <a:t>Бот отправляет ответ обратно в личку заказчику</a:t>
            </a:r>
            <a:endParaRPr lang="en-US" sz="960" dirty="0"/>
          </a:p>
          <a:p>
            <a:pPr marL="152400" indent="-152400">
              <a:buSzPct val="100000"/>
              <a:buChar char="•"/>
            </a:pPr>
            <a:r>
              <a:rPr lang="en-US" sz="960" dirty="0">
                <a:solidFill>
                  <a:srgbClr val="243746"/>
                </a:solidFill>
              </a:rPr>
              <a:t>Переписка остаётся связанной по заказу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9189720" y="1645920"/>
            <a:ext cx="2103120" cy="36118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A9C7E6"/>
            </a:solidFill>
            <a:prstDash val="solid"/>
          </a:ln>
          <a:effectLst>
            <a:outerShdw sx="100000" sy="100000" kx="0" ky="0" algn="bl" rotWithShape="0" blurRad="12700" dist="50800" dir="2700000">
              <a:srgbClr val="BCCFE3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400032" y="1901952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FF0E8"/>
          </a:solidFill>
          <a:ln w="12700">
            <a:solidFill>
              <a:srgbClr val="FFF0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36608" y="1929384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43746"/>
                </a:solidFill>
              </a:rPr>
              <a:t>Шаг 4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372600" y="224942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</a:rPr>
              <a:t>Дальнейшее усиление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36024" y="2743200"/>
            <a:ext cx="1783080" cy="2148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52400" indent="-152400">
              <a:buSzPct val="100000"/>
              <a:buChar char="•"/>
            </a:pPr>
            <a:r>
              <a:rPr lang="en-US" sz="960" dirty="0">
                <a:solidFill>
                  <a:srgbClr val="243746"/>
                </a:solidFill>
              </a:rPr>
              <a:t>Файлы и фото</a:t>
            </a:r>
            <a:endParaRPr lang="en-US" sz="960" dirty="0"/>
          </a:p>
          <a:p>
            <a:pPr marL="152400" indent="-152400">
              <a:buSzPct val="100000"/>
              <a:buChar char="•"/>
            </a:pPr>
            <a:r>
              <a:rPr lang="en-US" sz="960" dirty="0">
                <a:solidFill>
                  <a:srgbClr val="243746"/>
                </a:solidFill>
              </a:rPr>
              <a:t>Кнопки "Открыть заказ" и "Открыть изделие"</a:t>
            </a:r>
            <a:endParaRPr lang="en-US" sz="960" dirty="0"/>
          </a:p>
          <a:p>
            <a:pPr marL="152400" indent="-152400">
              <a:buSzPct val="100000"/>
              <a:buChar char="•"/>
            </a:pPr>
            <a:r>
              <a:rPr lang="en-US" sz="960" dirty="0">
                <a:solidFill>
                  <a:srgbClr val="243746"/>
                </a:solidFill>
              </a:rPr>
              <a:t>Непрочитанные сообщения</a:t>
            </a:r>
            <a:endParaRPr lang="en-US" sz="960" dirty="0"/>
          </a:p>
          <a:p>
            <a:pPr marL="152400" indent="-152400">
              <a:buSzPct val="100000"/>
              <a:buChar char="•"/>
            </a:pPr>
            <a:r>
              <a:rPr lang="en-US" sz="960" dirty="0">
                <a:solidFill>
                  <a:srgbClr val="243746"/>
                </a:solidFill>
              </a:rPr>
              <a:t>Ответственный по заказу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1005840" y="5486400"/>
            <a:ext cx="10058400" cy="530352"/>
          </a:xfrm>
          <a:prstGeom prst="roundRect">
            <a:avLst>
              <a:gd name="adj" fmla="val 13793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  <a:effectLst>
            <a:outerShdw sx="100000" sy="100000" kx="0" ky="0" algn="bl" rotWithShape="0" blurRad="12700" dist="50800" dir="2700000">
              <a:srgbClr val="BCCFE3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234440" y="5623560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Главный принцип MVP: клиент остаётся в личке с ботом, сотрудники работают в supergroup, бот связывает два контура и не раскрывает клиенту внутреннюю переписку.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63550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E7387"/>
                </a:solidFill>
              </a:rPr>
              <a:t>Проектная схема без кода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Kaznadzei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Telegram Supergroup for Kaznadzei</dc:title>
  <dc:subject>Telegram supergroup architecture</dc:subject>
  <dc:creator>TRAE</dc:creator>
  <cp:lastModifiedBy>TRAE</cp:lastModifiedBy>
  <cp:revision>1</cp:revision>
  <dcterms:created xsi:type="dcterms:W3CDTF">2026-07-23T17:38:07Z</dcterms:created>
  <dcterms:modified xsi:type="dcterms:W3CDTF">2026-07-23T17:38:07Z</dcterms:modified>
</cp:coreProperties>
</file>